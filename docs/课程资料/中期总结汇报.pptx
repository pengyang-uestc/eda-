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测试项数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F2937"/>
                    </a:solidFill>
                    <a:latin typeface="微软雅黑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D9C9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590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逻辑与文件</c:v>
                  </c:pt>
                  <c:pt idx="1">
                    <c:v>子电路兼容</c:v>
                  </c:pt>
                  <c:pt idx="2">
                    <c:v>画布交互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64</c:v>
                </c:pt>
                <c:pt idx="1">
                  <c:v>53</c:v>
                </c:pt>
                <c:pt idx="2">
                  <c:v>68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400" u="none">
                  <a:solidFill>
                    <a:srgbClr val="1F2937"/>
                  </a:solidFill>
                  <a:latin typeface="微软雅黑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微软雅黑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AF9"/>
        </a:solidFill>
        <a:ln>
          <a:noFill/>
        </a:ln>
        <a:effectLst/>
      </c:spPr>
    </c:plotArea>
    <c:plotVisOnly val="1"/>
    <c:dispBlanksAs val="span"/>
  </c:chart>
  <c:spPr>
    <a:solidFill>
      <a:srgbClr val="F7FA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各位老师、同学好。我们小组的项目是电路原理图编辑器 MyEDA，用 C++ 和 wxWidgets 从零实现。今天从完成情况、系统设计、功能演示、测试质量和分工五个方面做中期汇报。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先给结论：任务书六个任务全部完成。代码规模接近四千行，185 项自动化测试实测全部通过，导出的文件在 KiCad 10.0.6 里实际导入零错误。这几个数字后面每一条都有验证方式，可以现场演示。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这页对照任务书逐条汇报：六个任务全部完成，状态列都是绿色。要强调的是每一条都有可验证的东西——任务一看讲义，二到四看软件操作，任务五看导出文件在 KiCad 里打开，任务六看现场仿真。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架构上我们分成四层：最底下是数据模型 core，往上 editor 负责画图交互、sim 负责仿真、file 负责存档和对接，最上面 ui 把它们组装成窗口。核心设计原则一句话：数据是核心，界面只是把数据画出来。这个分层让仿真和文件层不依赖界面，才能做到 185 项自动化测试。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绘制编辑这块是交互最密集的模块。左边五个是基础能力：完整的选择拖动复制、直角自动布线、非法连线会立即在状态栏提示原因、视图缩放平移、双缓冲防闪烁。最近新增的亮点是 Ctrl+R 位号重排——像专业 EDA 一样把元件按位置自动编成 U1 U2，连线引用同步更新，还能一键撤销。右边是我们框选拖动的实际截图。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仿真是按 F5 一键触发，引擎从开关出发反复传播逻辑值直到整个电路稳定。结果直接画在画布上：导线按 0 和 1 着不同颜色，灯亮灭一目了然。下面这张表是半加器验收：四种输入组合 00 01 10 11，和输出与进位和理论真值表完全一致。此外还支持 D 触发器和时钟源，每 500 毫秒自动步进，能看时序电路逐拍变化。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文件模块做了两件事。第一是自己的工程格式，JSON 存储，有未保存提醒和坏文件保护——文件损坏不会破坏当前工程。第二是对接 KiCad：网表能导出也能导入，原理图也能导出。这里的关键点是并查集网络归并，保证多个元件接同一根导线时在网络里正确合并。最有说服力的是右边这张截图：KiCad 10.0.6 实际导入我们的网表，零错误。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这页是我们超出任务书的自主扩展：层次子电路。流程三步——画好电路选中、一键封装、之后它就像普通元件一样出现在元件库里，还能导出成 .edasub 文件跨工程复用。这就是工业 EDA 的层次化设计思想。我们配了 53 项专门测试保证封装展开再保存数据不丢，还做了管理对话框可以查看和删除。边界我们也如实说明：目前支持组合逻辑，含时钟的电路会明确提示不支持，而不是悄悄出错。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如果老师追问技术细节，这五个点最能讲。第一，撤销用的是快照式：每次操作把整个电路 JSON 压栈，好处是以后加任何新功能都自动获得撤销能力。第二，网络归并用并查集，这是解决扇出连接错误的关键数据结构。第三，双缓冲绘制解决闪烁。第四，画布和主窗口之间用回调解耦，正是这个设计让自动化测试成为可能。第五，布线做了网格吸附和半程通道，保证导线整齐不压引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质量方面我们不靠手感，靠测试。185 项自动化测试分三块：逻辑与文件 64 项、子电路兼容 53 项、画布交互 68 项，刚刚全部重新跑过，全部 PASS。往上还有 GUI 自动化和半加器端到端验收。流程上有个硬门禁：build 脚本一键编译加测试，测试不过就不许提交。所以每个组员的改动都被这张网兜住。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分工按代码目录切：A 管界面，B 管画布交互兼最核心的数据层，C 管文件和 KiCad 对接，D 管仿真和整个测试体系。协作方式是 Git 主线开发、小步提交，期间完成过一次大规模目录重构和一次 PR 合并，编译加测试的门禁保证了主线一直是绿的。每人名字汇报时填上。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开发不是一帆风顺的，挑五个典型的说。最折腾的是编码问题，中文系统下 GBK 和 UTF-8 打架，最后在编译层统一解决。或门的弧线画反过方向，改用折线近似。删除曾经静默失败，我们借此建立了提示回调机制。网表扇出错误靠并查集根治。最近一次目录重构大家的改动有冲突，用 rebase 加目录级分工解决，重构后 185 项测试全量回归通过。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这页如实说边界。目前时序仿真没有波形动画、子电路暂不支持含时钟的电路、PCB 只完成了对接没有真正布线制板、也没有打印导出。结题前的计划按优先级排：先把课程报告和结题汇报做好，有余力再补波形展示和元件能力。底部这条是我们的汇报口径约定：网表能被 KiCad 导入，不等于完成了可制板的硬件设计，我们不夸大。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总结一句话：六个任务全部完成，中期进度达标。三千九百行代码、185 项测试、54 次提交、KiCad 零错误导入，这些数字都经得起现场验证。接下来进入演示环节，欢迎大家上手操作。谢谢！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8170" y="1885950"/>
            <a:ext cx="2857500" cy="1714500"/>
          </a:xfrm>
          <a:prstGeom prst="roundRect">
            <a:avLst>
              <a:gd name="adj" fmla="val 3200"/>
            </a:avLst>
          </a:prstGeom>
          <a:solidFill>
            <a:srgbClr val="133C35"/>
          </a:solidFill>
          <a:ln w="19050">
            <a:solidFill>
              <a:srgbClr val="A7D8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18170" y="1885950"/>
            <a:ext cx="2857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MyEDA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818120" y="2228850"/>
            <a:ext cx="400050" cy="0"/>
          </a:xfrm>
          <a:prstGeom prst="line">
            <a:avLst/>
          </a:prstGeom>
          <a:noFill/>
          <a:ln w="19050">
            <a:solidFill>
              <a:srgbClr val="A7D8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75670" y="2228850"/>
            <a:ext cx="400050" cy="0"/>
          </a:xfrm>
          <a:prstGeom prst="line">
            <a:avLst/>
          </a:prstGeom>
          <a:noFill/>
          <a:ln w="19050">
            <a:solidFill>
              <a:srgbClr val="A7D8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90104" y="2192274"/>
            <a:ext cx="91440" cy="914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7" name="Shape 5"/>
          <p:cNvSpPr/>
          <p:nvPr/>
        </p:nvSpPr>
        <p:spPr>
          <a:xfrm>
            <a:off x="7818120" y="2571750"/>
            <a:ext cx="400050" cy="0"/>
          </a:xfrm>
          <a:prstGeom prst="line">
            <a:avLst/>
          </a:prstGeom>
          <a:noFill/>
          <a:ln w="19050">
            <a:solidFill>
              <a:srgbClr val="A7D8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75670" y="2571750"/>
            <a:ext cx="400050" cy="0"/>
          </a:xfrm>
          <a:prstGeom prst="line">
            <a:avLst/>
          </a:prstGeom>
          <a:noFill/>
          <a:ln w="19050">
            <a:solidFill>
              <a:srgbClr val="A7D8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90104" y="2535174"/>
            <a:ext cx="91440" cy="914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0" name="Shape 8"/>
          <p:cNvSpPr/>
          <p:nvPr/>
        </p:nvSpPr>
        <p:spPr>
          <a:xfrm>
            <a:off x="7818120" y="2914650"/>
            <a:ext cx="400050" cy="0"/>
          </a:xfrm>
          <a:prstGeom prst="line">
            <a:avLst/>
          </a:prstGeom>
          <a:noFill/>
          <a:ln w="19050">
            <a:solidFill>
              <a:srgbClr val="A7D8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075670" y="2914650"/>
            <a:ext cx="400050" cy="0"/>
          </a:xfrm>
          <a:prstGeom prst="line">
            <a:avLst/>
          </a:prstGeom>
          <a:noFill/>
          <a:ln w="19050">
            <a:solidFill>
              <a:srgbClr val="A7D8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90104" y="2878074"/>
            <a:ext cx="91440" cy="914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3" name="Shape 11"/>
          <p:cNvSpPr/>
          <p:nvPr/>
        </p:nvSpPr>
        <p:spPr>
          <a:xfrm>
            <a:off x="7818120" y="3257550"/>
            <a:ext cx="400050" cy="0"/>
          </a:xfrm>
          <a:prstGeom prst="line">
            <a:avLst/>
          </a:prstGeom>
          <a:noFill/>
          <a:ln w="19050">
            <a:solidFill>
              <a:srgbClr val="A7D8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075670" y="3257550"/>
            <a:ext cx="400050" cy="0"/>
          </a:xfrm>
          <a:prstGeom prst="line">
            <a:avLst/>
          </a:prstGeom>
          <a:noFill/>
          <a:ln w="19050">
            <a:solidFill>
              <a:srgbClr val="A7D8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90104" y="3220974"/>
            <a:ext cx="91440" cy="914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6" name="Shape 14"/>
          <p:cNvSpPr/>
          <p:nvPr/>
        </p:nvSpPr>
        <p:spPr>
          <a:xfrm>
            <a:off x="7498080" y="1234440"/>
            <a:ext cx="1371600" cy="0"/>
          </a:xfrm>
          <a:prstGeom prst="line">
            <a:avLst/>
          </a:prstGeom>
          <a:noFill/>
          <a:ln w="15240">
            <a:solidFill>
              <a:srgbClr val="A7D8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60920" y="1197864"/>
            <a:ext cx="82296" cy="82296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8" name="Shape 16"/>
          <p:cNvSpPr/>
          <p:nvPr/>
        </p:nvSpPr>
        <p:spPr>
          <a:xfrm>
            <a:off x="7498080" y="4434840"/>
            <a:ext cx="0" cy="822960"/>
          </a:xfrm>
          <a:prstGeom prst="line">
            <a:avLst/>
          </a:prstGeom>
          <a:noFill/>
          <a:ln w="15240">
            <a:solidFill>
              <a:srgbClr val="A7D8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0" y="5257800"/>
            <a:ext cx="822960" cy="0"/>
          </a:xfrm>
          <a:prstGeom prst="line">
            <a:avLst/>
          </a:prstGeom>
          <a:noFill/>
          <a:ln w="15240">
            <a:solidFill>
              <a:srgbClr val="A7D8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21040" y="5221224"/>
            <a:ext cx="82296" cy="82296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1371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A7D8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工业软件创新训练 I · 课程项目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2960" y="1874520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电路原理图编辑器</a:t>
            </a:r>
            <a:endParaRPr lang="en-US" sz="4700" dirty="0"/>
          </a:p>
        </p:txBody>
      </p:sp>
      <p:sp>
        <p:nvSpPr>
          <p:cNvPr id="23" name="Text 21"/>
          <p:cNvSpPr/>
          <p:nvPr/>
        </p:nvSpPr>
        <p:spPr>
          <a:xfrm>
            <a:off x="822960" y="2926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7D8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MyEDA</a:t>
            </a:r>
            <a:pPr indent="0" marL="0">
              <a:buNone/>
            </a:pPr>
            <a:r>
              <a:rPr lang="en-US" sz="2600" dirty="0">
                <a:solidFill>
                  <a:srgbClr val="C9D8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·　中期总结汇报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868680" y="4069080"/>
            <a:ext cx="2926080" cy="0"/>
          </a:xfrm>
          <a:prstGeom prst="line">
            <a:avLst/>
          </a:prstGeom>
          <a:noFill/>
          <a:ln w="12700">
            <a:solidFill>
              <a:srgbClr val="2E55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3434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8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小组成员：＿＿＿　＿＿＿　＿＿＿　＿＿＿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2960" y="4754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A3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年 10 月 · 中期检查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项目概览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一句话：画电路 · 跑仿真 · 存工程 · 对接 KiCad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 C++17 + wxWidgets 从零实现的</a:t>
            </a:r>
            <a:pPr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数字电路原理图编辑器</a:t>
            </a:r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：拖放逻辑门与开关、连线后一键仿真验证 0/1 逻辑，工程可保存，设计可导出给 KiCad 继续 PCB 流程。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2338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6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1520" y="3703320"/>
            <a:ext cx="23842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任务书任务全部完成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98698" y="2788920"/>
            <a:ext cx="0" cy="1554480"/>
          </a:xfrm>
          <a:prstGeom prst="line">
            <a:avLst/>
          </a:prstGeom>
          <a:noFill/>
          <a:ln w="12700">
            <a:solidFill>
              <a:srgbClr val="D8E4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7298" y="2697480"/>
            <a:ext cx="2338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3,891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527298" y="3703320"/>
            <a:ext cx="23842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行源代码（另有 819 行测试）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094476" y="2788920"/>
            <a:ext cx="0" cy="1554480"/>
          </a:xfrm>
          <a:prstGeom prst="line">
            <a:avLst/>
          </a:prstGeom>
          <a:noFill/>
          <a:ln w="12700">
            <a:solidFill>
              <a:srgbClr val="D8E4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23076" y="2697480"/>
            <a:ext cx="2338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185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6323076" y="3703320"/>
            <a:ext cx="23842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项自动化测试 · 实测全 PASS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890254" y="2788920"/>
            <a:ext cx="0" cy="1554480"/>
          </a:xfrm>
          <a:prstGeom prst="line">
            <a:avLst/>
          </a:prstGeom>
          <a:noFill/>
          <a:ln w="12700">
            <a:solidFill>
              <a:srgbClr val="D8E4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18854" y="2697480"/>
            <a:ext cx="2338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 错误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9118854" y="3703320"/>
            <a:ext cx="23842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KiCad 10.0.6 导入实测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02920" y="4800600"/>
            <a:ext cx="11183112" cy="0"/>
          </a:xfrm>
          <a:prstGeom prst="line">
            <a:avLst/>
          </a:prstGeom>
          <a:noFill/>
          <a:ln w="12700">
            <a:solidFill>
              <a:srgbClr val="D8E4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5029200"/>
            <a:ext cx="11183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技术栈：</a:t>
            </a:r>
            <a:pPr indent="0" marL="0">
              <a:buNone/>
            </a:pPr>
            <a:r>
              <a:rPr lang="en-US" sz="150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C++17 · wxWidgets 3.2 · CMake · JSON · s-expression · Git 全程管理（54 次提交）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任务书对照：六个任务全部完成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311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468880"/>
                <a:gridCol w="5394960"/>
                <a:gridCol w="10058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任务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任务书要求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我们的实现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状态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硬件电路基础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B6B7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数字逻辑原理学习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B6B7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全组学习 4 篇讲义；以半加器真值表作验收标准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E8590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完成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用户界面模块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B6B7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菜单/工具栏/快捷操作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B6B7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三栏布局（元件库树·绘图区·属性表），全套菜单与快捷键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E8590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完成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元件库模块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B6B7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预定义 + 自定义元件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B6B7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 种内置元件 + 真值表自定义 + 层次子电路封装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E8590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完成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 绘图与编辑模块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B6B7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放置、移动、连线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B6B7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放置/拖动/框选/复制粘贴/撤销重做，直角布线 + 连线校验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E8590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完成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 文件功能模块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B6B7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网表结构、导入导出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B6B7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.eda(JSON) 存档；KiCad 网表/原理图导入导出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E8590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完成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 电路仿真模块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B6B7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信号传播与逻辑仿真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B6B7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迭代传播引擎，导线按 0/1 着色；D 触发器 + 时钟步进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E8590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完成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5989320"/>
            <a:ext cx="11183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注：任务 1 的学习成果见仓库 docs/学习笔记/ 四篇讲义；每项功能均有对应测试或演示。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系统架构：分层设计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目录即架构，目录即分工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731520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E4E1"/>
            </a:solidFill>
            <a:prstDash val="solid"/>
          </a:ln>
          <a:effectLst>
            <a:outerShdw sx="100000" sy="100000" kx="0" ky="0" algn="bl" rotWithShape="0" blurRad="88900" dist="25400" dir="5400000">
              <a:srgbClr val="1A2E2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5448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ui/　主窗口层</a:t>
            </a:r>
            <a:endParaRPr lang="en-US" sz="1550" dirty="0"/>
          </a:p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三栏布局 · 菜单/工具栏 · 属性表 · 对话框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160520" y="2331720"/>
            <a:ext cx="0" cy="292608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02920" y="2624328"/>
            <a:ext cx="228600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E4E1"/>
            </a:solidFill>
            <a:prstDash val="solid"/>
          </a:ln>
          <a:effectLst>
            <a:outerShdw sx="100000" sy="100000" kx="0" ky="0" algn="bl" rotWithShape="0" blurRad="88900" dist="25400" dir="5400000">
              <a:srgbClr val="1A2E2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624328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editor/</a:t>
            </a:r>
            <a:endParaRPr lang="en-US" sz="1550" dirty="0"/>
          </a:p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绘制与交互</a:t>
            </a:r>
            <a:endParaRPr lang="en-US" sz="1550" dirty="0"/>
          </a:p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布线 · 校验 · 位号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3017520" y="2624328"/>
            <a:ext cx="228600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E4E1"/>
            </a:solidFill>
            <a:prstDash val="solid"/>
          </a:ln>
          <a:effectLst>
            <a:outerShdw sx="100000" sy="100000" kx="0" ky="0" algn="bl" rotWithShape="0" blurRad="88900" dist="25400" dir="5400000">
              <a:srgbClr val="1A2E2A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54680" y="2624328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sim/</a:t>
            </a:r>
            <a:endParaRPr lang="en-US" sz="1550" dirty="0"/>
          </a:p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仿真引擎</a:t>
            </a:r>
            <a:endParaRPr lang="en-US" sz="1550" dirty="0"/>
          </a:p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迭代传播 · 时序步进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532120" y="2624328"/>
            <a:ext cx="228600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E4E1"/>
            </a:solidFill>
            <a:prstDash val="solid"/>
          </a:ln>
          <a:effectLst>
            <a:outerShdw sx="100000" sy="100000" kx="0" ky="0" algn="bl" rotWithShape="0" blurRad="88900" dist="25400" dir="5400000">
              <a:srgbClr val="1A2E2A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69280" y="2624328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file/</a:t>
            </a:r>
            <a:endParaRPr lang="en-US" sz="1550" dirty="0"/>
          </a:p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存档与对接</a:t>
            </a:r>
            <a:endParaRPr lang="en-US" sz="1550" dirty="0"/>
          </a:p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.eda · 网表 · .edasub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4160520" y="3493008"/>
            <a:ext cx="0" cy="292608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02920" y="3785616"/>
            <a:ext cx="7315200" cy="777240"/>
          </a:xfrm>
          <a:prstGeom prst="roundRect">
            <a:avLst>
              <a:gd name="adj" fmla="val 5882"/>
            </a:avLst>
          </a:prstGeom>
          <a:solidFill>
            <a:srgbClr val="0E2A26"/>
          </a:solidFill>
          <a:ln w="12700">
            <a:solidFill>
              <a:srgbClr val="D8E4E1"/>
            </a:solidFill>
            <a:prstDash val="solid"/>
          </a:ln>
          <a:effectLst>
            <a:outerShdw sx="100000" sy="100000" kx="0" ky="0" algn="bl" rotWithShape="0" blurRad="88900" dist="25400" dir="5400000">
              <a:srgbClr val="1A2E2A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3785616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core/　数据模型（全组共用）</a:t>
            </a:r>
            <a:endParaRPr lang="en-US" sz="1550" dirty="0"/>
          </a:p>
          <a:p>
            <a:pPr indent="0" marL="0">
              <a:buNone/>
            </a:pPr>
            <a:r>
              <a:rPr lang="en-US" sz="1150" dirty="0">
                <a:solidFill>
                  <a:srgbClr val="A7D8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元件 · 引脚 · 导线 · 子电路定义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502920" y="4892040"/>
            <a:ext cx="7315200" cy="640080"/>
          </a:xfrm>
          <a:prstGeom prst="roundRect">
            <a:avLst>
              <a:gd name="adj" fmla="val 7143"/>
            </a:avLst>
          </a:prstGeom>
          <a:solidFill>
            <a:srgbClr val="E4F2F0"/>
          </a:solidFill>
          <a:ln w="12700">
            <a:solidFill>
              <a:srgbClr val="D8E4E1"/>
            </a:solidFill>
            <a:prstDash val="solid"/>
          </a:ln>
          <a:effectLst>
            <a:outerShdw sx="100000" sy="100000" kx="0" ky="0" algn="bl" rotWithShape="0" blurRad="88900" dist="25400" dir="5400000">
              <a:srgbClr val="1A2E2A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4892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test/</a:t>
            </a:r>
            <a:endParaRPr lang="en-US" sz="1550" dirty="0"/>
          </a:p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单元测试 · GUI 自动化 · 端到端验收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321040" y="1645920"/>
            <a:ext cx="33649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数据是核心，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界面只是把数据画出来。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8321040" y="3154680"/>
            <a:ext cx="2355494" cy="0"/>
          </a:xfrm>
          <a:prstGeom prst="line">
            <a:avLst/>
          </a:prstGeom>
          <a:noFill/>
          <a:ln w="12700">
            <a:solidFill>
              <a:srgbClr val="D8E4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21040" y="3474720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2" name="Text 20"/>
          <p:cNvSpPr/>
          <p:nvPr/>
        </p:nvSpPr>
        <p:spPr>
          <a:xfrm>
            <a:off x="8540496" y="3346704"/>
            <a:ext cx="31455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分层解耦</a:t>
            </a:r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上层依赖下层，core 不反向依赖界面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8321040" y="4251960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4" name="Text 22"/>
          <p:cNvSpPr/>
          <p:nvPr/>
        </p:nvSpPr>
        <p:spPr>
          <a:xfrm>
            <a:off x="8540496" y="4123944"/>
            <a:ext cx="31455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依赖倒置</a:t>
            </a:r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画布用回调上报提示，不认识主窗口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8321040" y="5029200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6" name="Text 24"/>
          <p:cNvSpPr/>
          <p:nvPr/>
        </p:nvSpPr>
        <p:spPr>
          <a:xfrm>
            <a:off x="8540496" y="4901184"/>
            <a:ext cx="31455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利于测试</a:t>
            </a:r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仿真/文件层无界面也能 185 项自动化测试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 · 绘制与编辑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成员 B 主责 · src/editor/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563624"/>
            <a:ext cx="5541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完整交互</a:t>
            </a:r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放置、拖动、框选、复制粘贴、删除、撤销重做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404872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2276856"/>
            <a:ext cx="5541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智能布线</a:t>
            </a:r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直角自动走线 + 10px 网格吸附，支持多拐点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3118104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" y="2990088"/>
            <a:ext cx="5541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连线校验</a:t>
            </a:r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非法连线立即拦截，状态栏提示原因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831336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722376" y="3703320"/>
            <a:ext cx="5541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视图操作</a:t>
            </a:r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滚轮缩放 · 中键平移 · Ctrl+0 一键复位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4544568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722376" y="4416552"/>
            <a:ext cx="5541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双缓冲绘制</a:t>
            </a:r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整页重绘无闪烁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65760" y="5230368"/>
            <a:ext cx="5943600" cy="868680"/>
          </a:xfrm>
          <a:prstGeom prst="roundRect">
            <a:avLst>
              <a:gd name="adj" fmla="val 5263"/>
            </a:avLst>
          </a:prstGeom>
          <a:solidFill>
            <a:srgbClr val="E4F2F0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53035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新增亮点　</a:t>
            </a:r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Ctrl+R 位号自动重排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按画布坐标从上到下、从左到右连续编号 U1、U2…，连线引用同步更新，可撤销</a:t>
            </a:r>
            <a:endParaRPr lang="en-US" sz="1400" dirty="0"/>
          </a:p>
        </p:txBody>
      </p:sp>
      <p:pic>
        <p:nvPicPr>
          <p:cNvPr id="17" name="Image 0" descr="D:/EDA工业软件/EDA-repo/docs/images/screenshots/演示参考-框选两个元件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29400" y="1554480"/>
            <a:ext cx="5029200" cy="314325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6601968" y="1527048"/>
            <a:ext cx="5084064" cy="3198114"/>
          </a:xfrm>
          <a:prstGeom prst="rect">
            <a:avLst/>
          </a:prstGeom>
          <a:ln w="12700">
            <a:solidFill>
              <a:srgbClr val="D8E4E1"/>
            </a:solidFill>
            <a:prstDash val="solid"/>
          </a:ln>
          <a:effectLst>
            <a:outerShdw sx="100000" sy="100000" kx="0" ky="0" algn="bl" rotWithShape="0" blurRad="88900" dist="25400" dir="5400000">
              <a:srgbClr val="1A2E2A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629400" y="475259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框选两个元件 · 整组拖动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 · 逻辑仿真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成员 D 主责 · src/sim/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563624"/>
            <a:ext cx="5449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一键仿真 F5</a:t>
            </a:r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从开关出发迭代传播，直到全电路稳定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423160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2295144"/>
            <a:ext cx="5449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结果可视化</a:t>
            </a:r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导线按逻辑值着色，指示灯直接显示 0/1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3154680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" y="3026664"/>
            <a:ext cx="5449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时序仿真</a:t>
            </a:r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D 触发器（上升沿采样）+ 时钟源 500ms 自动步进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半加器真值表实测（验收样例）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389120"/>
          <a:ext cx="4023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和 S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进位 C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6B7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6B7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766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766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6B7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6B7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766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766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6B7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6B7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766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766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6B7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6B7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766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766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502920" y="6172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四种输入组合全部正确，与理论真值表一致</a:t>
            </a:r>
            <a:endParaRPr lang="en-US" sz="1150" dirty="0"/>
          </a:p>
        </p:txBody>
      </p:sp>
      <p:pic>
        <p:nvPicPr>
          <p:cNvPr id="14" name="Image 0" descr="D:/EDA工业软件/EDA-repo/docs/images/screenshots/演示参考-仿真真值表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29400" y="1554480"/>
            <a:ext cx="5029200" cy="314325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601968" y="1527048"/>
            <a:ext cx="5084064" cy="3198114"/>
          </a:xfrm>
          <a:prstGeom prst="rect">
            <a:avLst/>
          </a:prstGeom>
          <a:ln w="12700">
            <a:solidFill>
              <a:srgbClr val="D8E4E1"/>
            </a:solidFill>
            <a:prstDash val="solid"/>
          </a:ln>
          <a:effectLst>
            <a:outerShdw sx="100000" sy="100000" kx="0" ky="0" algn="bl" rotWithShape="0" blurRad="88900" dist="25400" dir="5400000">
              <a:srgbClr val="1A2E2A">
                <a:alpha val="18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6629400" y="475259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F5 仿真 · 导线着色 · 灯显结果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 · 文件与 KiCad 对接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成员 C 主责 · src/file/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563624"/>
            <a:ext cx="5449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工程存档</a:t>
            </a:r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.eda（JSON）保存/打开，未保存提醒 + 坏文件保护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441448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2313432"/>
            <a:ext cx="5449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网表双向</a:t>
            </a:r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KiCad 网表导出与导入（s-expression 解析器）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3191256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" y="3063240"/>
            <a:ext cx="5449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原理图导出</a:t>
            </a:r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生成 .kicad_sch，KiCad 直接打开编辑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941064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722376" y="3813048"/>
            <a:ext cx="5449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网络归并</a:t>
            </a:r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并查集合并同一导线上的引脚，扇出连接正确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4846320"/>
            <a:ext cx="5943600" cy="914400"/>
          </a:xfrm>
          <a:prstGeom prst="roundRect">
            <a:avLst>
              <a:gd name="adj" fmla="val 5000"/>
            </a:avLst>
          </a:prstGeom>
          <a:solidFill>
            <a:srgbClr val="E4F2F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937760"/>
            <a:ext cx="5669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互操作实测　</a:t>
            </a:r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KiCad 10.0.6 导入 0 错误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导出的网表与原理图在 KiCad 中实际加载验证，右侧为导入截图</a:t>
            </a:r>
            <a:endParaRPr lang="en-US" sz="1400" dirty="0"/>
          </a:p>
        </p:txBody>
      </p:sp>
      <p:pic>
        <p:nvPicPr>
          <p:cNvPr id="15" name="Image 0" descr="D:/EDA工业软件/EDA-repo/docs/images/screenshots/KiCad导入网表-0错误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29400" y="1554480"/>
            <a:ext cx="5029200" cy="314325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601968" y="1527048"/>
            <a:ext cx="5084064" cy="3198114"/>
          </a:xfrm>
          <a:prstGeom prst="rect">
            <a:avLst/>
          </a:prstGeom>
          <a:ln w="12700">
            <a:solidFill>
              <a:srgbClr val="D8E4E1"/>
            </a:solidFill>
            <a:prstDash val="solid"/>
          </a:ln>
          <a:effectLst>
            <a:outerShdw sx="100000" sy="100000" kx="0" ky="0" algn="bl" rotWithShape="0" blurRad="88900" dist="25400" dir="5400000">
              <a:srgbClr val="1A2E2A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629400" y="475259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KiCad 10.0.6 导入我们的网表 · 0 错误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扩展亮点 · 层次子电路封装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超出任务书的自主扩展 · 任务 3 深化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3453384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4E1"/>
            </a:solidFill>
            <a:prstDash val="solid"/>
          </a:ln>
          <a:effectLst>
            <a:outerShdw sx="100000" sy="100000" kx="0" ky="0" algn="bl" rotWithShape="0" blurRad="88900" dist="25400" dir="5400000">
              <a:srgbClr val="1A2E2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783080"/>
            <a:ext cx="30876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画好并选中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在画布上完成一个电路（如非门）并框选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11168" y="2441448"/>
            <a:ext cx="301752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367784" y="1645920"/>
            <a:ext cx="3453384" cy="1600200"/>
          </a:xfrm>
          <a:prstGeom prst="roundRect">
            <a:avLst>
              <a:gd name="adj" fmla="val 4000"/>
            </a:avLst>
          </a:prstGeom>
          <a:solidFill>
            <a:srgbClr val="0E2A26"/>
          </a:solidFill>
          <a:ln w="12700">
            <a:solidFill>
              <a:srgbClr val="0E2A26"/>
            </a:solidFill>
            <a:prstDash val="solid"/>
          </a:ln>
          <a:effectLst>
            <a:outerShdw sx="100000" sy="100000" kx="0" ky="0" algn="bl" rotWithShape="0" blurRad="88900" dist="25400" dir="5400000">
              <a:srgbClr val="1A2E2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50664" y="1783080"/>
            <a:ext cx="30876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A7D8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封装为元件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8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工程菜单一键封装，自动生成多输入/多输出端口，存为 .edasub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876032" y="2441448"/>
            <a:ext cx="301752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232648" y="1645920"/>
            <a:ext cx="3453384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4E1"/>
            </a:solidFill>
            <a:prstDash val="solid"/>
          </a:ln>
          <a:effectLst>
            <a:outerShdw sx="100000" sy="100000" kx="0" ky="0" algn="bl" rotWithShape="0" blurRad="88900" dist="25400" dir="5400000">
              <a:srgbClr val="1A2E2A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15528" y="1783080"/>
            <a:ext cx="30876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当普通元件用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出现在元件库中可拖放连线，支持跨工程复用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" y="3703320"/>
            <a:ext cx="11183112" cy="0"/>
          </a:xfrm>
          <a:prstGeom prst="line">
            <a:avLst/>
          </a:prstGeom>
          <a:noFill/>
          <a:ln w="12700">
            <a:solidFill>
              <a:srgbClr val="D8E4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4114800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" y="3986784"/>
            <a:ext cx="3233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子电路元件管理</a:t>
            </a:r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对话框集中查看/删除已定义子电路，删除可撤销重做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230624" y="4114800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4450080" y="3986784"/>
            <a:ext cx="3233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层次化设计思想</a:t>
            </a:r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与工业 EDA 的层次图设计一致：先模块后系统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958328" y="4114800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9" name="Text 17"/>
          <p:cNvSpPr/>
          <p:nvPr/>
        </p:nvSpPr>
        <p:spPr>
          <a:xfrm>
            <a:off x="8177784" y="3986784"/>
            <a:ext cx="3233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质量守护</a:t>
            </a:r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53 项封装/展开/合并兼容测试，数据不丢失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" y="5806440"/>
            <a:ext cx="11183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时序说明：子电路封装当前支持组合逻辑，含时钟/触发器的选区会明确提示暂不支持（不静默出错）。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关键设计决策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五个最值得讲的技术点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417320" y="1444752"/>
            <a:ext cx="10085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快照式撤销</a:t>
            </a:r>
            <a:endParaRPr lang="en-US" sz="16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整个电路 JSON 压栈，不必为每种操作写逆操作——新增功能天然支持撤销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417320" y="2267712"/>
            <a:ext cx="10085832" cy="0"/>
          </a:xfrm>
          <a:prstGeom prst="line">
            <a:avLst/>
          </a:prstGeom>
          <a:noFill/>
          <a:ln w="9525">
            <a:solidFill>
              <a:srgbClr val="D8E4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395728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417320" y="2377440"/>
            <a:ext cx="10085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并查集网络归并</a:t>
            </a:r>
            <a:endParaRPr lang="en-US" sz="16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同一导线上的引脚合并为同一网络，从根上解决网表扇出连接错误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417320" y="3200400"/>
            <a:ext cx="10085832" cy="0"/>
          </a:xfrm>
          <a:prstGeom prst="line">
            <a:avLst/>
          </a:prstGeom>
          <a:noFill/>
          <a:ln w="9525">
            <a:solidFill>
              <a:srgbClr val="D8E4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328416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417320" y="3310128"/>
            <a:ext cx="10085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双缓冲绘制</a:t>
            </a:r>
            <a:endParaRPr lang="en-US" sz="16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先在内存位图绘制整页再上屏，拖动缩放全程无闪烁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417320" y="4133088"/>
            <a:ext cx="10085832" cy="0"/>
          </a:xfrm>
          <a:prstGeom prst="line">
            <a:avLst/>
          </a:prstGeom>
          <a:noFill/>
          <a:ln w="9525">
            <a:solidFill>
              <a:srgbClr val="D8E4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261104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417320" y="4242816"/>
            <a:ext cx="10085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提示回调（依赖倒置）</a:t>
            </a:r>
            <a:endParaRPr lang="en-US" sz="16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画布只管发消息，不认识主窗口——GUI 自动化测试因此成为可能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417320" y="5065776"/>
            <a:ext cx="10085832" cy="0"/>
          </a:xfrm>
          <a:prstGeom prst="line">
            <a:avLst/>
          </a:prstGeom>
          <a:noFill/>
          <a:ln w="9525">
            <a:solidFill>
              <a:srgbClr val="D8E4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5193792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417320" y="5175504"/>
            <a:ext cx="10085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网格吸附 + 半程通道布线</a:t>
            </a:r>
            <a:endParaRPr lang="en-US" sz="16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10px 对齐 + 横竖折线取半程通道，导线整齐且不压引脚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测试与质量保证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185 项自动化测试 · 实测全部 PASS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645920"/>
          <a:ext cx="58521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56692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测试构成（项）· 64 + 53 + 68 = 185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949440" y="1645920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三层测试体系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949440" y="2240280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9" name="Text 6"/>
          <p:cNvSpPr/>
          <p:nvPr/>
        </p:nvSpPr>
        <p:spPr>
          <a:xfrm>
            <a:off x="7168896" y="2112264"/>
            <a:ext cx="4517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单元/模块测试</a:t>
            </a:r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185 项：逻辑、存档、网表、子电路、画布交互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949440" y="3081528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1" name="Text 8"/>
          <p:cNvSpPr/>
          <p:nvPr/>
        </p:nvSpPr>
        <p:spPr>
          <a:xfrm>
            <a:off x="7168896" y="2953512"/>
            <a:ext cx="4517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GUI 自动化</a:t>
            </a:r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模拟点击/拖拽/预览的交互场景测试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949440" y="3922776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3" name="Text 10"/>
          <p:cNvSpPr/>
          <p:nvPr/>
        </p:nvSpPr>
        <p:spPr>
          <a:xfrm>
            <a:off x="7168896" y="3794760"/>
            <a:ext cx="4517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端到端验收</a:t>
            </a:r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半加器 00/01/10/11 四种输入全覆盖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949440" y="4709160"/>
            <a:ext cx="4026103" cy="0"/>
          </a:xfrm>
          <a:prstGeom prst="line">
            <a:avLst/>
          </a:prstGeom>
          <a:noFill/>
          <a:ln w="12700">
            <a:solidFill>
              <a:srgbClr val="D8E4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49440" y="4892040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提交门禁　</a:t>
            </a:r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build.bat 一键编译+测试，不通过不提交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949440" y="5303520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外部验证　</a:t>
            </a:r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导出文件经 KiCad 10.0.6 实际导入验证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四人分工与协作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目录即地盘 · 每人有清晰的责任边界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2555748" cy="3291840"/>
          </a:xfrm>
          <a:prstGeom prst="roundRect">
            <a:avLst>
              <a:gd name="adj" fmla="val 2504"/>
            </a:avLst>
          </a:prstGeom>
          <a:solidFill>
            <a:srgbClr val="FFFFFF"/>
          </a:solidFill>
          <a:ln w="12700">
            <a:solidFill>
              <a:srgbClr val="D8E4E1"/>
            </a:solidFill>
            <a:prstDash val="solid"/>
          </a:ln>
          <a:effectLst>
            <a:outerShdw sx="100000" sy="100000" kx="0" ky="0" algn="bl" rotWithShape="0" blurRad="88900" dist="25400" dir="5400000">
              <a:srgbClr val="1A2E2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04088" y="1783080"/>
            <a:ext cx="21534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成员 A</a:t>
            </a:r>
            <a:endParaRPr lang="en-US" sz="1700" dirty="0"/>
          </a:p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界面工程师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04088" y="2606040"/>
            <a:ext cx="2153412" cy="384048"/>
          </a:xfrm>
          <a:prstGeom prst="roundRect">
            <a:avLst>
              <a:gd name="adj" fmla="val 11905"/>
            </a:avLst>
          </a:prstGeom>
          <a:solidFill>
            <a:srgbClr val="E4F2F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606040"/>
            <a:ext cx="20071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src/ui/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04088" y="3154680"/>
            <a:ext cx="21899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三栏布局与菜单/工具栏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属性表联动 · 对话框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KiCad 原理图导出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78708" y="1600200"/>
            <a:ext cx="2555748" cy="3291840"/>
          </a:xfrm>
          <a:prstGeom prst="roundRect">
            <a:avLst>
              <a:gd name="adj" fmla="val 2504"/>
            </a:avLst>
          </a:prstGeom>
          <a:solidFill>
            <a:srgbClr val="FFFFFF"/>
          </a:solidFill>
          <a:ln w="12700">
            <a:solidFill>
              <a:srgbClr val="D8E4E1"/>
            </a:solidFill>
            <a:prstDash val="solid"/>
          </a:ln>
          <a:effectLst>
            <a:outerShdw sx="100000" sy="100000" kx="0" ky="0" algn="bl" rotWithShape="0" blurRad="88900" dist="25400" dir="5400000">
              <a:srgbClr val="1A2E2A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79876" y="1783080"/>
            <a:ext cx="21534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成员 B</a:t>
            </a:r>
            <a:endParaRPr lang="en-US" sz="1700" dirty="0"/>
          </a:p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交互工程师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579876" y="2606040"/>
            <a:ext cx="2153412" cy="384048"/>
          </a:xfrm>
          <a:prstGeom prst="roundRect">
            <a:avLst>
              <a:gd name="adj" fmla="val 11905"/>
            </a:avLst>
          </a:prstGeom>
          <a:solidFill>
            <a:srgbClr val="E4F2F0"/>
          </a:solidFill>
          <a:ln/>
        </p:spPr>
      </p:sp>
      <p:sp>
        <p:nvSpPr>
          <p:cNvPr id="13" name="Text 11"/>
          <p:cNvSpPr/>
          <p:nvPr/>
        </p:nvSpPr>
        <p:spPr>
          <a:xfrm>
            <a:off x="3653028" y="2606040"/>
            <a:ext cx="20071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src/editor/  (兼 core/)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79876" y="3154680"/>
            <a:ext cx="21899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放置/拖动/框选/布线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连线校验 · 位号重排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双缓冲 · 视图操作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54496" y="1600200"/>
            <a:ext cx="2555748" cy="3291840"/>
          </a:xfrm>
          <a:prstGeom prst="roundRect">
            <a:avLst>
              <a:gd name="adj" fmla="val 2504"/>
            </a:avLst>
          </a:prstGeom>
          <a:solidFill>
            <a:srgbClr val="FFFFFF"/>
          </a:solidFill>
          <a:ln w="12700">
            <a:solidFill>
              <a:srgbClr val="D8E4E1"/>
            </a:solidFill>
            <a:prstDash val="solid"/>
          </a:ln>
          <a:effectLst>
            <a:outerShdw sx="100000" sy="100000" kx="0" ky="0" algn="bl" rotWithShape="0" blurRad="88900" dist="25400" dir="5400000">
              <a:srgbClr val="1A2E2A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55664" y="1783080"/>
            <a:ext cx="21534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成员 C</a:t>
            </a:r>
            <a:endParaRPr lang="en-US" sz="1700" dirty="0"/>
          </a:p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文件工程师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455664" y="2606040"/>
            <a:ext cx="2153412" cy="384048"/>
          </a:xfrm>
          <a:prstGeom prst="roundRect">
            <a:avLst>
              <a:gd name="adj" fmla="val 11905"/>
            </a:avLst>
          </a:prstGeom>
          <a:solidFill>
            <a:srgbClr val="E4F2F0"/>
          </a:solidFill>
          <a:ln/>
        </p:spPr>
      </p:sp>
      <p:sp>
        <p:nvSpPr>
          <p:cNvPr id="18" name="Text 16"/>
          <p:cNvSpPr/>
          <p:nvPr/>
        </p:nvSpPr>
        <p:spPr>
          <a:xfrm>
            <a:off x="6528816" y="2606040"/>
            <a:ext cx="20071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src/file/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55664" y="3154680"/>
            <a:ext cx="21899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.eda 存档与异常保护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KiCad 网表/原理图对接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子电路 .edasub 与管理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30284" y="1600200"/>
            <a:ext cx="2555748" cy="3291840"/>
          </a:xfrm>
          <a:prstGeom prst="roundRect">
            <a:avLst>
              <a:gd name="adj" fmla="val 2504"/>
            </a:avLst>
          </a:prstGeom>
          <a:solidFill>
            <a:srgbClr val="FFFFFF"/>
          </a:solidFill>
          <a:ln w="12700">
            <a:solidFill>
              <a:srgbClr val="D8E4E1"/>
            </a:solidFill>
            <a:prstDash val="solid"/>
          </a:ln>
          <a:effectLst>
            <a:outerShdw sx="100000" sy="100000" kx="0" ky="0" algn="bl" rotWithShape="0" blurRad="88900" dist="25400" dir="5400000">
              <a:srgbClr val="1A2E2A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331452" y="1783080"/>
            <a:ext cx="21534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成员 D</a:t>
            </a:r>
            <a:endParaRPr lang="en-US" sz="1700" dirty="0"/>
          </a:p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仿真验证工程师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331452" y="2606040"/>
            <a:ext cx="2153412" cy="384048"/>
          </a:xfrm>
          <a:prstGeom prst="roundRect">
            <a:avLst>
              <a:gd name="adj" fmla="val 11905"/>
            </a:avLst>
          </a:prstGeom>
          <a:solidFill>
            <a:srgbClr val="E4F2F0"/>
          </a:solidFill>
          <a:ln/>
        </p:spPr>
      </p:sp>
      <p:sp>
        <p:nvSpPr>
          <p:cNvPr id="23" name="Text 21"/>
          <p:cNvSpPr/>
          <p:nvPr/>
        </p:nvSpPr>
        <p:spPr>
          <a:xfrm>
            <a:off x="9404604" y="2606040"/>
            <a:ext cx="20071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src/sim/ + test/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331452" y="3154680"/>
            <a:ext cx="21899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仿真引擎 · 时序步进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185 项自动化测试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半加器端到端验收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5257800"/>
            <a:ext cx="11183112" cy="0"/>
          </a:xfrm>
          <a:prstGeom prst="line">
            <a:avLst/>
          </a:prstGeom>
          <a:noFill/>
          <a:ln w="12700">
            <a:solidFill>
              <a:srgbClr val="D8E4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5440680"/>
            <a:ext cx="11183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协作方式　</a:t>
            </a:r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Git 主线开发 · 54 次小步提交 · PR 协作合并 · core/ 全组共用改动先沟通 · 编译+测试门禁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踩过的坑与解决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每个问题都落成了代码里的机制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中文编码乱码（GBK vs UTF-8）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349240" y="1901952"/>
            <a:ext cx="502920" cy="0"/>
          </a:xfrm>
          <a:prstGeom prst="line">
            <a:avLst/>
          </a:prstGeom>
          <a:noFill/>
          <a:ln w="25400">
            <a:solidFill>
              <a:srgbClr val="E8590C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6080760" y="1554480"/>
            <a:ext cx="5605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编译统一 /utf-8 字符集，全仓库固定编码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377440"/>
            <a:ext cx="11183112" cy="0"/>
          </a:xfrm>
          <a:prstGeom prst="line">
            <a:avLst/>
          </a:prstGeom>
          <a:noFill/>
          <a:ln w="9525">
            <a:solidFill>
              <a:srgbClr val="D8E4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45059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或门弧线绘制方向错误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349240" y="2798064"/>
            <a:ext cx="502920" cy="0"/>
          </a:xfrm>
          <a:prstGeom prst="line">
            <a:avLst/>
          </a:prstGeom>
          <a:noFill/>
          <a:ln w="25400">
            <a:solidFill>
              <a:srgbClr val="E8590C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080760" y="2450592"/>
            <a:ext cx="5605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改用折线近似弧线，可控且跨缩放稳定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3273552"/>
            <a:ext cx="11183112" cy="0"/>
          </a:xfrm>
          <a:prstGeom prst="line">
            <a:avLst/>
          </a:prstGeom>
          <a:noFill/>
          <a:ln w="9525">
            <a:solidFill>
              <a:srgbClr val="D8E4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346704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删除操作“静默失败”难察觉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349240" y="3694176"/>
            <a:ext cx="502920" cy="0"/>
          </a:xfrm>
          <a:prstGeom prst="line">
            <a:avLst/>
          </a:prstGeom>
          <a:noFill/>
          <a:ln w="25400">
            <a:solidFill>
              <a:srgbClr val="E8590C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080760" y="3346704"/>
            <a:ext cx="5605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引入状态栏提示回调，操作结果必有反馈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02920" y="4169664"/>
            <a:ext cx="11183112" cy="0"/>
          </a:xfrm>
          <a:prstGeom prst="line">
            <a:avLst/>
          </a:prstGeom>
          <a:noFill/>
          <a:ln w="9525">
            <a:solidFill>
              <a:srgbClr val="D8E4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24281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网表扇出连接错误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349240" y="4590288"/>
            <a:ext cx="502920" cy="0"/>
          </a:xfrm>
          <a:prstGeom prst="line">
            <a:avLst/>
          </a:prstGeom>
          <a:noFill/>
          <a:ln w="25400">
            <a:solidFill>
              <a:srgbClr val="E8590C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6080760" y="4242816"/>
            <a:ext cx="5605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并查集网络归并，同一导线引脚合并为一个网络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02920" y="5065776"/>
            <a:ext cx="11183112" cy="0"/>
          </a:xfrm>
          <a:prstGeom prst="line">
            <a:avLst/>
          </a:prstGeom>
          <a:noFill/>
          <a:ln w="9525">
            <a:solidFill>
              <a:srgbClr val="D8E4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513892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目录重构多人改动冲突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349240" y="5486400"/>
            <a:ext cx="502920" cy="0"/>
          </a:xfrm>
          <a:prstGeom prst="line">
            <a:avLst/>
          </a:prstGeom>
          <a:noFill/>
          <a:ln w="25400">
            <a:solidFill>
              <a:srgbClr val="E8590C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6080760" y="5138928"/>
            <a:ext cx="5605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rebase 合并 + 目录级分工，重构后全量测试回归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如实边界与下一步计划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中期 → 结题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52715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当前边界（如实说明）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91440" cy="91440"/>
          </a:xfrm>
          <a:prstGeom prst="ellipse">
            <a:avLst/>
          </a:prstGeom>
          <a:solidFill>
            <a:srgbClr val="5B6B7A"/>
          </a:solidFill>
          <a:ln/>
        </p:spPr>
      </p:sp>
      <p:sp>
        <p:nvSpPr>
          <p:cNvPr id="7" name="Text 5"/>
          <p:cNvSpPr/>
          <p:nvPr/>
        </p:nvSpPr>
        <p:spPr>
          <a:xfrm>
            <a:off x="722376" y="2020824"/>
            <a:ext cx="50520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时序仿真</a:t>
            </a:r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暂无波形动画，靠步进观察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02920" y="3017520"/>
            <a:ext cx="91440" cy="91440"/>
          </a:xfrm>
          <a:prstGeom prst="ellipse">
            <a:avLst/>
          </a:prstGeom>
          <a:solidFill>
            <a:srgbClr val="5B6B7A"/>
          </a:solidFill>
          <a:ln/>
        </p:spPr>
      </p:sp>
      <p:sp>
        <p:nvSpPr>
          <p:cNvPr id="9" name="Text 7"/>
          <p:cNvSpPr/>
          <p:nvPr/>
        </p:nvSpPr>
        <p:spPr>
          <a:xfrm>
            <a:off x="722376" y="2889504"/>
            <a:ext cx="50520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子电路</a:t>
            </a:r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含时钟/触发器的选区暂不支持封装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02920" y="3886200"/>
            <a:ext cx="91440" cy="91440"/>
          </a:xfrm>
          <a:prstGeom prst="ellipse">
            <a:avLst/>
          </a:prstGeom>
          <a:solidFill>
            <a:srgbClr val="5B6B7A"/>
          </a:solidFill>
          <a:ln/>
        </p:spPr>
      </p:sp>
      <p:sp>
        <p:nvSpPr>
          <p:cNvPr id="11" name="Text 9"/>
          <p:cNvSpPr/>
          <p:nvPr/>
        </p:nvSpPr>
        <p:spPr>
          <a:xfrm>
            <a:off x="722376" y="3758184"/>
            <a:ext cx="50520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PCB 流程</a:t>
            </a:r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完成网表/封装对接，未做铜线布线与制板验证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02920" y="4754880"/>
            <a:ext cx="91440" cy="91440"/>
          </a:xfrm>
          <a:prstGeom prst="ellipse">
            <a:avLst/>
          </a:prstGeom>
          <a:solidFill>
            <a:srgbClr val="5B6B7A"/>
          </a:solidFill>
          <a:ln/>
        </p:spPr>
      </p:sp>
      <p:sp>
        <p:nvSpPr>
          <p:cNvPr id="13" name="Text 11"/>
          <p:cNvSpPr/>
          <p:nvPr/>
        </p:nvSpPr>
        <p:spPr>
          <a:xfrm>
            <a:off x="722376" y="4626864"/>
            <a:ext cx="50520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</a:t>
            </a:r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暂无打印 / PDF 导出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094476" y="1600200"/>
            <a:ext cx="0" cy="4206240"/>
          </a:xfrm>
          <a:prstGeom prst="line">
            <a:avLst/>
          </a:prstGeom>
          <a:noFill/>
          <a:ln w="12700">
            <a:solidFill>
              <a:srgbClr val="D8E4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4516" y="1508760"/>
            <a:ext cx="52715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结题前计划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14516" y="2148840"/>
            <a:ext cx="91440" cy="914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7" name="Text 15"/>
          <p:cNvSpPr/>
          <p:nvPr/>
        </p:nvSpPr>
        <p:spPr>
          <a:xfrm>
            <a:off x="6633972" y="2020824"/>
            <a:ext cx="50520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文档与汇报</a:t>
            </a:r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课程报告撰写 + 结题 PPT 排练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414516" y="3017520"/>
            <a:ext cx="91440" cy="914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9" name="Text 17"/>
          <p:cNvSpPr/>
          <p:nvPr/>
        </p:nvSpPr>
        <p:spPr>
          <a:xfrm>
            <a:off x="6633972" y="2889504"/>
            <a:ext cx="50520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仿真体验</a:t>
            </a:r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时序波形/动画展示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414516" y="3886200"/>
            <a:ext cx="91440" cy="914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21" name="Text 19"/>
          <p:cNvSpPr/>
          <p:nvPr/>
        </p:nvSpPr>
        <p:spPr>
          <a:xfrm>
            <a:off x="6633972" y="3758184"/>
            <a:ext cx="50520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元件能力</a:t>
            </a:r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子电路支持时序选区；3+ 输入门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414516" y="4754880"/>
            <a:ext cx="91440" cy="914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23" name="Text 21"/>
          <p:cNvSpPr/>
          <p:nvPr/>
        </p:nvSpPr>
        <p:spPr>
          <a:xfrm>
            <a:off x="6633972" y="4626864"/>
            <a:ext cx="50520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导出</a:t>
            </a:r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打印 / PDF 导出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502920" y="5623560"/>
            <a:ext cx="11183112" cy="685800"/>
          </a:xfrm>
          <a:prstGeom prst="roundRect">
            <a:avLst>
              <a:gd name="adj" fmla="val 6667"/>
            </a:avLst>
          </a:prstGeom>
          <a:solidFill>
            <a:srgbClr val="E4F2F0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5623560"/>
            <a:ext cx="10725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口径约定　</a:t>
            </a:r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“网表导入成功”≠“可制板硬件设计”——我们如实按教学原型的口径汇报，不夸大。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2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95410" y="4537710"/>
            <a:ext cx="1943100" cy="1165860"/>
          </a:xfrm>
          <a:prstGeom prst="roundRect">
            <a:avLst>
              <a:gd name="adj" fmla="val 4706"/>
            </a:avLst>
          </a:prstGeom>
          <a:solidFill>
            <a:srgbClr val="133C35"/>
          </a:solidFill>
          <a:ln w="19050">
            <a:solidFill>
              <a:srgbClr val="A7D8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95410" y="4537710"/>
            <a:ext cx="194310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MyEDA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723376" y="4770882"/>
            <a:ext cx="272034" cy="0"/>
          </a:xfrm>
          <a:prstGeom prst="line">
            <a:avLst/>
          </a:prstGeom>
          <a:noFill/>
          <a:ln w="19050">
            <a:solidFill>
              <a:srgbClr val="A7D8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38510" y="4770882"/>
            <a:ext cx="272034" cy="0"/>
          </a:xfrm>
          <a:prstGeom prst="line">
            <a:avLst/>
          </a:prstGeom>
          <a:noFill/>
          <a:ln w="19050">
            <a:solidFill>
              <a:srgbClr val="A7D8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24621" y="4734306"/>
            <a:ext cx="62179" cy="62179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7" name="Shape 5"/>
          <p:cNvSpPr/>
          <p:nvPr/>
        </p:nvSpPr>
        <p:spPr>
          <a:xfrm>
            <a:off x="8723376" y="5004054"/>
            <a:ext cx="272034" cy="0"/>
          </a:xfrm>
          <a:prstGeom prst="line">
            <a:avLst/>
          </a:prstGeom>
          <a:noFill/>
          <a:ln w="19050">
            <a:solidFill>
              <a:srgbClr val="A7D8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38510" y="5004054"/>
            <a:ext cx="272034" cy="0"/>
          </a:xfrm>
          <a:prstGeom prst="line">
            <a:avLst/>
          </a:prstGeom>
          <a:noFill/>
          <a:ln w="19050">
            <a:solidFill>
              <a:srgbClr val="A7D8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24621" y="4967478"/>
            <a:ext cx="62179" cy="62179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0" name="Shape 8"/>
          <p:cNvSpPr/>
          <p:nvPr/>
        </p:nvSpPr>
        <p:spPr>
          <a:xfrm>
            <a:off x="8723376" y="5237226"/>
            <a:ext cx="272034" cy="0"/>
          </a:xfrm>
          <a:prstGeom prst="line">
            <a:avLst/>
          </a:prstGeom>
          <a:noFill/>
          <a:ln w="19050">
            <a:solidFill>
              <a:srgbClr val="A7D8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38510" y="5237226"/>
            <a:ext cx="272034" cy="0"/>
          </a:xfrm>
          <a:prstGeom prst="line">
            <a:avLst/>
          </a:prstGeom>
          <a:noFill/>
          <a:ln w="19050">
            <a:solidFill>
              <a:srgbClr val="A7D8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24621" y="5200650"/>
            <a:ext cx="62179" cy="62179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3" name="Shape 11"/>
          <p:cNvSpPr/>
          <p:nvPr/>
        </p:nvSpPr>
        <p:spPr>
          <a:xfrm>
            <a:off x="8723376" y="5470398"/>
            <a:ext cx="272034" cy="0"/>
          </a:xfrm>
          <a:prstGeom prst="line">
            <a:avLst/>
          </a:prstGeom>
          <a:noFill/>
          <a:ln w="19050">
            <a:solidFill>
              <a:srgbClr val="A7D8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38510" y="5470398"/>
            <a:ext cx="272034" cy="0"/>
          </a:xfrm>
          <a:prstGeom prst="line">
            <a:avLst/>
          </a:prstGeom>
          <a:noFill/>
          <a:ln w="19050">
            <a:solidFill>
              <a:srgbClr val="A7D8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24621" y="5433822"/>
            <a:ext cx="62179" cy="62179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10515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400" kern="0" dirty="0">
                <a:solidFill>
                  <a:srgbClr val="A7D8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中期总结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15544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六个任务全部完成，中期进度达标</a:t>
            </a:r>
            <a:endParaRPr lang="en-US" sz="3700" dirty="0"/>
          </a:p>
        </p:txBody>
      </p:sp>
      <p:sp>
        <p:nvSpPr>
          <p:cNvPr id="18" name="Text 16"/>
          <p:cNvSpPr/>
          <p:nvPr/>
        </p:nvSpPr>
        <p:spPr>
          <a:xfrm>
            <a:off x="822960" y="27889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7D8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3,891 行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22960" y="3429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A3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源代码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520440" y="27889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7D8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185 项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3520440" y="3429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A3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测试全 PASS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217920" y="27889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7D8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54 次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217920" y="3429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A3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提交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915400" y="27889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7D8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 错误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8915400" y="3429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A3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KiCad 导入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68680" y="4160520"/>
            <a:ext cx="10424160" cy="0"/>
          </a:xfrm>
          <a:prstGeom prst="line">
            <a:avLst/>
          </a:prstGeom>
          <a:noFill/>
          <a:ln w="12700">
            <a:solidFill>
              <a:srgbClr val="2E55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3891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8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分层架构 · 快照撤销 · 并查集归并 · 子电路封装 · 三层测试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22960" y="5074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谢谢聆听 · 请老师和同学们指正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22960" y="5669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A3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Q&amp;A · 演示环节欢迎上手操作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电路原理图编辑器 MyEDA · 中期总结汇报</dc:title>
  <dc:subject>PptxGenJS Presentation</dc:subject>
  <dc:creator>MyEDA 小组</dc:creator>
  <cp:lastModifiedBy>MyEDA 小组</cp:lastModifiedBy>
  <cp:revision>1</cp:revision>
  <dcterms:created xsi:type="dcterms:W3CDTF">2026-10-29T06:56:42Z</dcterms:created>
  <dcterms:modified xsi:type="dcterms:W3CDTF">2026-10-29T06:56:42Z</dcterms:modified>
</cp:coreProperties>
</file>